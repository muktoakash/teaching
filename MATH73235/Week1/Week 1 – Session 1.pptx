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1905EA-F27B-4493-B136-BF97446C07C2}" v="7" dt="2020-05-18T23:54:13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3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E3D2D-F05D-4806-B83C-7B5DCAE03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EBFD3-9BB1-42C7-AECB-4319D41D9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28C69-61BC-411B-B101-743E747FB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122-8C3E-4482-8641-EB488EEB0E7F}" type="datetimeFigureOut">
              <a:rPr lang="en-CA" smtClean="0"/>
              <a:t>2023-05-11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F602F-9C81-4CC6-91DB-D88E857A3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C17EE-C84E-40CD-968D-43354D87B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7E6B1-1474-4A2A-A90A-07C8B7D26F3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1021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44DEE-FC43-4DCB-AA88-3CF9B907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F045F-5CCD-4452-9E89-95B2A7FA3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53C43-245A-42AC-A88A-F49614836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122-8C3E-4482-8641-EB488EEB0E7F}" type="datetimeFigureOut">
              <a:rPr lang="en-CA" smtClean="0"/>
              <a:t>2023-05-11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C5284-762D-4EB4-A611-E551293C9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111C7-06D1-46D1-B41A-D34D89B3F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7E6B1-1474-4A2A-A90A-07C8B7D26F3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733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72CB2-A138-4DA4-816F-F40E512EE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B944B-41ED-4072-B5C2-09EFD8475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4838F-5986-4066-9ADB-E2E2F4402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122-8C3E-4482-8641-EB488EEB0E7F}" type="datetimeFigureOut">
              <a:rPr lang="en-CA" smtClean="0"/>
              <a:t>2023-05-11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6CEB1-8C95-416D-AE44-83D95979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8B626-BEC3-4EF1-B004-3EA991383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7E6B1-1474-4A2A-A90A-07C8B7D26F3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5054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C1B71-9059-46ED-914C-9A9F079BC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2650A-FD51-4E55-A3A8-31AE37C2D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DD825C-7FD0-4B41-9F7C-5E78FDA4C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14C06-424F-4C22-9AC3-397641083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122-8C3E-4482-8641-EB488EEB0E7F}" type="datetimeFigureOut">
              <a:rPr lang="en-CA" smtClean="0"/>
              <a:t>2023-05-11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E66EA-7F53-4004-B716-B5AFF2F5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73EDF-9DFB-491B-A1FA-FC58B4A8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7E6B1-1474-4A2A-A90A-07C8B7D26F3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2906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0494-CD53-4F97-8770-C38C4F61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F156-B7D5-4DE2-9398-63AEA30DD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9539F-F9BE-4A3C-9292-CFA2DA819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9C00C3-E07E-41D3-9723-7B9B028F2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10DE78-9232-42FB-914C-8456EC4E75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8077CB-E4B0-4B65-9683-B7A20ED0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122-8C3E-4482-8641-EB488EEB0E7F}" type="datetimeFigureOut">
              <a:rPr lang="en-CA" smtClean="0"/>
              <a:t>2023-05-11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8012A4-C44D-4C92-9BDC-A6FD18B1A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8C0A91-77E3-43F6-A382-C83FA6375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7E6B1-1474-4A2A-A90A-07C8B7D26F3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778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BED91-2967-40B7-8038-AF63D754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05DB3-D847-4F1A-92E4-800D21DE2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122-8C3E-4482-8641-EB488EEB0E7F}" type="datetimeFigureOut">
              <a:rPr lang="en-CA" smtClean="0"/>
              <a:t>2023-05-11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659E8-E615-46B6-9409-E56F16C9C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A96D6-636C-480A-8904-338CB91F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7E6B1-1474-4A2A-A90A-07C8B7D26F3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113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7FDF1-F67A-43FC-9506-C43DE69C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122-8C3E-4482-8641-EB488EEB0E7F}" type="datetimeFigureOut">
              <a:rPr lang="en-CA" smtClean="0"/>
              <a:t>2023-05-11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081B1A-265D-42E7-A637-523AB3ED0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1E7F8-E95C-4FCF-9217-D59E451A0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7E6B1-1474-4A2A-A90A-07C8B7D26F3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085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14D2E-70D9-44B8-8947-08A142C86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48E1E-25C5-4F6D-BE7F-755F33638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0BE2F-75D0-4C74-BFEC-4F0DAD2CC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D131A-B008-43D2-8838-2D8AF1E29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122-8C3E-4482-8641-EB488EEB0E7F}" type="datetimeFigureOut">
              <a:rPr lang="en-CA" smtClean="0"/>
              <a:t>2023-05-11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45261-3E5D-4DBD-B1A0-0B9C218B5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8C425-C8CD-466C-834F-CFCA47C37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7E6B1-1474-4A2A-A90A-07C8B7D26F3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5004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1B9B3-1D2D-41B1-A7E3-7B6D50EF6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69C944-F425-4307-82E8-4BE624A1D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94E9B-92DC-461C-9FA9-B1AAF9A32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6F9C7-0C37-4497-9545-7486E6B06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122-8C3E-4482-8641-EB488EEB0E7F}" type="datetimeFigureOut">
              <a:rPr lang="en-CA" smtClean="0"/>
              <a:t>2023-05-11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93AB1-3756-43E6-B85D-FC1A0186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847FC-ACAC-4DB1-9F5E-0DEEF579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7E6B1-1474-4A2A-A90A-07C8B7D26F3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9250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C996-A5E1-42FE-AAA6-B501421E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1DA561-6D13-4CFA-A9F0-229A77BF0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2A9C1-7C45-4E46-B6F3-6268F035D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122-8C3E-4482-8641-EB488EEB0E7F}" type="datetimeFigureOut">
              <a:rPr lang="en-CA" smtClean="0"/>
              <a:t>2023-05-11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389BC-3188-4A48-8D01-4A2F3854B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CE3A-7871-4486-BB79-ECD79F6BC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7E6B1-1474-4A2A-A90A-07C8B7D26F3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8735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33B943-14A9-42EC-90DE-A9BFEF81A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A206C-E8C0-40C9-9D9E-D0FBDD67F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A7EAC-6F46-45D9-9F61-767A2AC7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122-8C3E-4482-8641-EB488EEB0E7F}" type="datetimeFigureOut">
              <a:rPr lang="en-CA" smtClean="0"/>
              <a:t>2023-05-11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2F501-842B-42FF-ABA3-AA50CB0D0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F12C1-A453-4F5E-8699-51C79CF82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7E6B1-1474-4A2A-A90A-07C8B7D26F3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389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A497C4-CC88-4C53-A1F7-21B805B1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E4167-A785-460D-974D-5BB1FB2A1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4F247-0EF6-4D4B-9554-CFD08AD4FF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86122-8C3E-4482-8641-EB488EEB0E7F}" type="datetimeFigureOut">
              <a:rPr lang="en-CA" smtClean="0"/>
              <a:t>2023-05-11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F6E03-61C1-4684-BB93-7AB34B8ED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04967-E47C-4BBC-9BD4-BAB70EDDB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7E6B1-1474-4A2A-A90A-07C8B7D26F3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0176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QBjniA5XfKA?t=4" TargetMode="External"/><Relationship Id="rId3" Type="http://schemas.openxmlformats.org/officeDocument/2006/relationships/hyperlink" Target="https://youtu.be/rB83DpBJQsE?t=23" TargetMode="External"/><Relationship Id="rId7" Type="http://schemas.openxmlformats.org/officeDocument/2006/relationships/hyperlink" Target="https://youtu.be/ToIXSwZ1pJU?t=421" TargetMode="External"/><Relationship Id="rId2" Type="http://schemas.openxmlformats.org/officeDocument/2006/relationships/hyperlink" Target="https://youtu.be/rB83DpBJQsE?t=1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rB83DpBJQsE?t=464" TargetMode="External"/><Relationship Id="rId5" Type="http://schemas.openxmlformats.org/officeDocument/2006/relationships/hyperlink" Target="https://youtu.be/rB83DpBJQsE?t=356" TargetMode="External"/><Relationship Id="rId10" Type="http://schemas.openxmlformats.org/officeDocument/2006/relationships/hyperlink" Target="https://youtu.be/wvJAgrUBF4w?t=45" TargetMode="External"/><Relationship Id="rId4" Type="http://schemas.openxmlformats.org/officeDocument/2006/relationships/hyperlink" Target="https://youtu.be/rB83DpBJQsE?t=28" TargetMode="External"/><Relationship Id="rId9" Type="http://schemas.openxmlformats.org/officeDocument/2006/relationships/hyperlink" Target="https://youtu.be/BSIw5SgUirg?t=20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hyperlink" Target="https://studylib.net/doc/6953072/conics-summar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6631-60C9-434A-8605-FDBA91EF69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Topics in Mathematics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97322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FFE1A-ED71-46A1-9993-ED03A83F8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the course content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EE9C5-F251-423D-8E4D-D29BA4614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301"/>
            <a:ext cx="10515600" cy="5265132"/>
          </a:xfrm>
        </p:spPr>
        <p:txBody>
          <a:bodyPr>
            <a:normAutofit fontScale="85000" lnSpcReduction="20000"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dirty="0"/>
              <a:t>Vector Calculus</a:t>
            </a:r>
          </a:p>
          <a:p>
            <a:pPr lvl="2"/>
            <a:r>
              <a:rPr lang="en-US" dirty="0"/>
              <a:t>Differentiation</a:t>
            </a:r>
          </a:p>
          <a:p>
            <a:pPr lvl="4"/>
            <a:r>
              <a:rPr lang="en-US" dirty="0"/>
              <a:t>Gradient, divergence, curl</a:t>
            </a:r>
          </a:p>
          <a:p>
            <a:pPr lvl="2"/>
            <a:r>
              <a:rPr lang="en-US" dirty="0"/>
              <a:t>Integration </a:t>
            </a:r>
          </a:p>
          <a:p>
            <a:pPr lvl="4"/>
            <a:r>
              <a:rPr lang="en-US" dirty="0"/>
              <a:t>Line integrals, surface integrals</a:t>
            </a:r>
          </a:p>
          <a:p>
            <a:pPr lvl="2"/>
            <a:r>
              <a:rPr lang="en-US" dirty="0"/>
              <a:t>Applications</a:t>
            </a:r>
          </a:p>
          <a:p>
            <a:pPr lvl="3"/>
            <a:r>
              <a:rPr lang="en-US" dirty="0"/>
              <a:t>Studying fluids : </a:t>
            </a:r>
            <a:r>
              <a:rPr lang="en-US" dirty="0">
                <a:hlinkClick r:id="rId2"/>
              </a:rPr>
              <a:t>https://youtu.be/rB83DpBJQsE?t=18</a:t>
            </a:r>
            <a:r>
              <a:rPr lang="en-US" dirty="0"/>
              <a:t>  </a:t>
            </a:r>
          </a:p>
          <a:p>
            <a:pPr lvl="3"/>
            <a:r>
              <a:rPr lang="en-US" dirty="0"/>
              <a:t>Studying gravity: </a:t>
            </a:r>
            <a:r>
              <a:rPr lang="en-US" dirty="0">
                <a:hlinkClick r:id="rId3"/>
              </a:rPr>
              <a:t>https://youtu.be/rB83DpBJQsE?t=23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Studying magnetic fields: </a:t>
            </a:r>
            <a:r>
              <a:rPr lang="en-US" dirty="0">
                <a:hlinkClick r:id="rId4"/>
              </a:rPr>
              <a:t>https://youtu.be/rB83DpBJQsE?t=28</a:t>
            </a:r>
            <a:endParaRPr lang="en-US" dirty="0"/>
          </a:p>
          <a:p>
            <a:pPr lvl="3"/>
            <a:r>
              <a:rPr lang="en-US" dirty="0"/>
              <a:t>Maxwell’s equations : </a:t>
            </a:r>
            <a:r>
              <a:rPr lang="en-US" dirty="0">
                <a:hlinkClick r:id="rId5"/>
              </a:rPr>
              <a:t>https://youtu.be/rB83DpBJQsE?t=356</a:t>
            </a:r>
            <a:endParaRPr lang="en-US" dirty="0"/>
          </a:p>
          <a:p>
            <a:pPr lvl="3"/>
            <a:r>
              <a:rPr lang="en-US" dirty="0"/>
              <a:t> Tracking populations (phase space states):  </a:t>
            </a:r>
            <a:r>
              <a:rPr lang="en-US" dirty="0">
                <a:hlinkClick r:id="rId6"/>
              </a:rPr>
              <a:t>https://youtu.be/rB83DpBJQsE?t=464</a:t>
            </a:r>
            <a:r>
              <a:rPr lang="en-US" dirty="0"/>
              <a:t> </a:t>
            </a:r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Cylindrical and Spherical coordinate systems</a:t>
            </a:r>
          </a:p>
          <a:p>
            <a:pPr lvl="2"/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Partial Differential Equations </a:t>
            </a:r>
          </a:p>
          <a:p>
            <a:pPr lvl="2"/>
            <a:r>
              <a:rPr lang="en-US" dirty="0"/>
              <a:t>1D, 2D Heat equations </a:t>
            </a:r>
          </a:p>
          <a:p>
            <a:pPr lvl="3"/>
            <a:r>
              <a:rPr lang="en-US" dirty="0">
                <a:hlinkClick r:id="rId7"/>
              </a:rPr>
              <a:t>https://youtu.be/ToIXSwZ1pJU?t=421</a:t>
            </a:r>
            <a:r>
              <a:rPr lang="en-US" dirty="0"/>
              <a:t> </a:t>
            </a:r>
          </a:p>
          <a:p>
            <a:pPr lvl="3"/>
            <a:r>
              <a:rPr lang="en-US" dirty="0">
                <a:hlinkClick r:id="rId8"/>
              </a:rPr>
              <a:t>https://youtu.be/QBjniA5XfKA?t=4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1D, 2D Wave equations </a:t>
            </a:r>
          </a:p>
          <a:p>
            <a:pPr lvl="3"/>
            <a:r>
              <a:rPr lang="en-US" dirty="0">
                <a:hlinkClick r:id="rId9"/>
              </a:rPr>
              <a:t>https://youtu.be/BSIw5SgUirg?t=20</a:t>
            </a:r>
            <a:r>
              <a:rPr lang="en-US" dirty="0"/>
              <a:t> </a:t>
            </a:r>
          </a:p>
          <a:p>
            <a:pPr lvl="3"/>
            <a:r>
              <a:rPr lang="en-US" dirty="0">
                <a:hlinkClick r:id="rId10"/>
              </a:rPr>
              <a:t>https://youtu.be/wvJAgrUBF4w?t=45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433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F5E0C-F0E4-412E-B11D-B21E9B5EA3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Reviewing Vectors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FF6630-49AC-43F4-8781-53FEC121EF4E}"/>
              </a:ext>
            </a:extLst>
          </p:cNvPr>
          <p:cNvSpPr txBox="1"/>
          <p:nvPr/>
        </p:nvSpPr>
        <p:spPr>
          <a:xfrm>
            <a:off x="3352800" y="412452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Definitions, summing,  scaling, dot product, cross product </a:t>
            </a:r>
          </a:p>
        </p:txBody>
      </p:sp>
    </p:spTree>
    <p:extLst>
      <p:ext uri="{BB962C8B-B14F-4D97-AF65-F5344CB8AC3E}">
        <p14:creationId xmlns:p14="http://schemas.microsoft.com/office/powerpoint/2010/main" val="202423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A7CE7-0677-4847-9955-BA847A3C5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Reviewing: Definitions, adding, scaling, dot product  (slides 1-41)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D3F9B-C1D3-4AF7-BD4C-EA649E874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  <a:p>
            <a:r>
              <a:rPr lang="en-CA" dirty="0"/>
              <a:t>Class activity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41C03A-C23B-4BA8-8C14-4603B7374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7" y="2951338"/>
            <a:ext cx="5839126" cy="368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347CE7-8A13-4E3B-B2FB-1E39CFBD9934}"/>
              </a:ext>
            </a:extLst>
          </p:cNvPr>
          <p:cNvSpPr txBox="1"/>
          <p:nvPr/>
        </p:nvSpPr>
        <p:spPr>
          <a:xfrm>
            <a:off x="3318933" y="3510844"/>
            <a:ext cx="1648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</a:t>
            </a:r>
          </a:p>
          <a:p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6DCFC2-236E-49DB-9C5D-7FB0D7021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650" y="3814275"/>
            <a:ext cx="18279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97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C8C5-2D1E-487B-B6EE-6293B699A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Reviewing: cross product, (Slides 42-58)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368DD-6B7E-4188-95E0-EC5F699A6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activity	</a:t>
            </a:r>
          </a:p>
          <a:p>
            <a:endParaRPr lang="en-US" dirty="0"/>
          </a:p>
          <a:p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3347B-1029-4260-BB37-202FDE632532}"/>
              </a:ext>
            </a:extLst>
          </p:cNvPr>
          <p:cNvSpPr txBox="1"/>
          <p:nvPr/>
        </p:nvSpPr>
        <p:spPr>
          <a:xfrm>
            <a:off x="4109156" y="2415821"/>
            <a:ext cx="1253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1EC982-D198-420A-B433-44B0A2164EAB}"/>
              </a:ext>
            </a:extLst>
          </p:cNvPr>
          <p:cNvSpPr txBox="1"/>
          <p:nvPr/>
        </p:nvSpPr>
        <p:spPr>
          <a:xfrm>
            <a:off x="4242712" y="3459514"/>
            <a:ext cx="206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	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F90EFF-D84A-43C0-AA88-0B4DDE54B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770" y="3719071"/>
            <a:ext cx="1024941" cy="357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7E6429-ED64-7058-8D29-D160FB0E1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012" y="2916907"/>
            <a:ext cx="360997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930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51A7D-4A2B-412A-BCF1-E6709B516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5238135"/>
            <a:ext cx="11410244" cy="1249185"/>
          </a:xfrm>
        </p:spPr>
        <p:txBody>
          <a:bodyPr>
            <a:normAutofit/>
          </a:bodyPr>
          <a:lstStyle/>
          <a:p>
            <a:r>
              <a:rPr lang="en-CA" sz="2000" dirty="0">
                <a:hlinkClick r:id="rId2"/>
              </a:rPr>
              <a:t>https://studylib.net/doc/6953072/conics-summary</a:t>
            </a:r>
            <a:endParaRPr lang="en-CA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247DA-8FD2-4E67-B6E5-07EA2E6AC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7F39C-9005-4D05-A7FF-6DD2BF023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924" y="2509837"/>
            <a:ext cx="5382151" cy="81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0AAFDC-4E5E-4BEF-9150-DE2D7B913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924" y="3632994"/>
            <a:ext cx="1320150" cy="3683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4BA6B75-7E4E-4080-9DB7-944B71BDD12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Scalar fields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00270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A4897-547A-4179-A1F5-9CD25186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fields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7F49B-3D09-4541-88CE-5A1B36BE6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activity:</a:t>
            </a:r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CC861E-A2EF-42C0-B828-81D591677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624" y="2526506"/>
            <a:ext cx="6600751" cy="66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CB4BD8-B347-46DE-9434-07D17A238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504" y="3321843"/>
            <a:ext cx="14217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986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49F9-A469-4175-99BF-C15E7BBDD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differentiation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ACAF6-D283-41F0-927D-8E51B370C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activity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860819-97D9-4595-8BA5-8A744A1AB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625" y="3155950"/>
            <a:ext cx="2538750" cy="546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76D457-1AE4-46A6-B4EC-AAF6A51B6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087" y="2633310"/>
            <a:ext cx="5229826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128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EEEC8700189D439309AA7FAA84EF06" ma:contentTypeVersion="7" ma:contentTypeDescription="Create a new document." ma:contentTypeScope="" ma:versionID="7974603c6600d65045fecf2a938e0e84">
  <xsd:schema xmlns:xsd="http://www.w3.org/2001/XMLSchema" xmlns:xs="http://www.w3.org/2001/XMLSchema" xmlns:p="http://schemas.microsoft.com/office/2006/metadata/properties" xmlns:ns3="0f4ede9d-053b-4c55-af64-7ce87fd6b61a" targetNamespace="http://schemas.microsoft.com/office/2006/metadata/properties" ma:root="true" ma:fieldsID="8623584e76b1d4540efbbf37440ebab5" ns3:_="">
    <xsd:import namespace="0f4ede9d-053b-4c55-af64-7ce87fd6b61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4ede9d-053b-4c55-af64-7ce87fd6b6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39AF5F-5419-4A0B-94D0-EE92A3D3F7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D74475-C385-4F63-96C0-4D11D2C8AC9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BB96E68-A2FE-4B80-9EA1-0E64B13A86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4ede9d-053b-4c55-af64-7ce87fd6b6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234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Advanced Topics in Mathematics</vt:lpstr>
      <vt:lpstr>Introduction to the course content</vt:lpstr>
      <vt:lpstr>Reviewing Vectors</vt:lpstr>
      <vt:lpstr>Reviewing: Definitions, adding, scaling, dot product  (slides 1-41)</vt:lpstr>
      <vt:lpstr>Reviewing: cross product, (Slides 42-58)</vt:lpstr>
      <vt:lpstr>https://studylib.net/doc/6953072/conics-summary</vt:lpstr>
      <vt:lpstr>Vector fields</vt:lpstr>
      <vt:lpstr>Vector differentiation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– Session 1</dc:title>
  <dc:creator>Ali Tehrani</dc:creator>
  <cp:lastModifiedBy>Ali Tehrani</cp:lastModifiedBy>
  <cp:revision>19</cp:revision>
  <dcterms:created xsi:type="dcterms:W3CDTF">2020-05-18T19:56:25Z</dcterms:created>
  <dcterms:modified xsi:type="dcterms:W3CDTF">2023-05-11T15:54:44Z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0x01010083EEEC8700189D439309AA7FAA84EF06</vt:lpwstr>
  </property>
</Properties>
</file>